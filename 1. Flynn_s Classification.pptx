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92" r:id="rId1"/>
  </p:sldMasterIdLst>
  <p:notesMasterIdLst>
    <p:notesMasterId r:id="rId17"/>
  </p:notesMasterIdLst>
  <p:sldIdLst>
    <p:sldId id="323" r:id="rId2"/>
    <p:sldId id="364" r:id="rId3"/>
    <p:sldId id="365" r:id="rId4"/>
    <p:sldId id="363" r:id="rId5"/>
    <p:sldId id="366" r:id="rId6"/>
    <p:sldId id="367" r:id="rId7"/>
    <p:sldId id="368" r:id="rId8"/>
    <p:sldId id="370" r:id="rId9"/>
    <p:sldId id="369" r:id="rId10"/>
    <p:sldId id="371" r:id="rId11"/>
    <p:sldId id="372" r:id="rId12"/>
    <p:sldId id="373" r:id="rId13"/>
    <p:sldId id="374" r:id="rId14"/>
    <p:sldId id="375" r:id="rId15"/>
    <p:sldId id="28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E56683-55B4-4077-8774-F5C73B6FFA24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1C8382-0407-4A03-A308-ED0FC45C52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7851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BA23F-EAAD-F91C-4440-D69AF2CE2B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8EF894-8D4B-6B32-A19B-980C8A733E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F0BC80-F510-ED08-0AA8-D8504EC17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C52B3-A027-4341-BB57-A59F984820E3}" type="datetime1">
              <a:rPr lang="en-US" smtClean="0"/>
              <a:t>4/27/2025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DE0FC7-B6AA-ABF5-74BE-C5B39D308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Mustakim Billah Bedar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E362BF-49F1-C82B-4AE4-D9CA0A2D5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6A304-B4EA-4326-AC53-193F60F09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95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B25C0-6F81-E538-CDF2-232AA2714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3AED0-A9BA-C530-6A7D-A6A892402C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62CE65-A4B4-E122-F6DA-3D8851A97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D7B7-5E0E-41B4-9B41-4EF5F9C48D3B}" type="datetime1">
              <a:rPr lang="en-US" smtClean="0"/>
              <a:t>4/27/2025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139EB8-8395-90EC-31C5-321CE41A9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Mustakim Billah Bedar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9F7A6C-B5FD-6BEB-2FAA-16C22C16A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6A304-B4EA-4326-AC53-193F60F09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0864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D0B6F-3623-C147-F57A-B30A7117B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9E655B-A1F5-0896-722A-ADCC7C64B4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1F51CC-5B53-1D29-F4C2-5DFD34344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C6A66-D763-4CB1-AB2C-7C2B6B72E916}" type="datetime1">
              <a:rPr lang="en-US" smtClean="0"/>
              <a:t>4/27/2025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96E460-9661-F3E5-EB17-CCA300BFD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Mustakim Billah Bedar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3AF579-C79B-0A4B-27B1-FD11DBCA2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6A304-B4EA-4326-AC53-193F60F09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445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A60DC-827C-23B3-0252-2945F82AC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AB1846-DFF6-F722-0B14-B5D7801A8A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169ABC-F664-5D38-1E7A-97C04E5548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6378C5-5E8C-947E-87F2-CC492C3A1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D7B7-5E0E-41B4-9B41-4EF5F9C48D3B}" type="datetime1">
              <a:rPr lang="en-US" smtClean="0"/>
              <a:t>4/27/2025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EACCD3-D5A6-F154-9EFF-E8B1770CB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Mustakim Billah Bedar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B01149-25FF-8C1D-E3BE-4C590536C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6A304-B4EA-4326-AC53-193F60F09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884647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96A66-DE35-D516-8764-CA1234B14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85F4C0-F69D-988C-6EC9-1B7BB24AAE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BC0E94-9EF0-3C00-1C84-E6D3CFE737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A3B116-3091-99F3-9B79-2F44D3C4A1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7B68EF-8470-6802-5B6C-13C4003529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E559C9-F947-1488-80BF-53387CAAB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D7B7-5E0E-41B4-9B41-4EF5F9C48D3B}" type="datetime1">
              <a:rPr lang="en-US" smtClean="0"/>
              <a:t>4/27/2025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A87C6F-61AE-7D11-D143-66AA30B34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Mustakim Billah Bedar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4C28BE-49AE-B931-0622-667059D7A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6A304-B4EA-4326-AC53-193F60F09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426335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D3AA6-1734-0AF1-48EE-BEFC76F0B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FB7935-EC42-50EE-E068-72933F930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6F27F-C265-4FFB-B8FB-B6144599FEAA}" type="datetime1">
              <a:rPr lang="en-US" smtClean="0"/>
              <a:t>4/27/2025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CB88C9-0771-D262-8283-C04CB65D3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Mustakim Billah Bedar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BDA3A8-8796-8F79-F40B-DFD7F14CE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6A304-B4EA-4326-AC53-193F60F09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710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992DA8-D71D-8D3E-E6C5-BAC16E56B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A1DBA-24A3-4045-8509-94739D737E52}" type="datetime1">
              <a:rPr lang="en-US" smtClean="0"/>
              <a:t>4/27/2025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6BE965-B66A-EC2F-1D1D-1F6881374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Mustakim Billah Bedar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CCFFDB-3271-2C04-0CA7-8B7AAD05E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6A304-B4EA-4326-AC53-193F60F09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4499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71C43-3B71-1F7F-B4FF-B9F0786EC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4373FE-F5BE-895C-B78B-6DE2F12663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11BF31-086F-F613-6159-75E1C3094D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F3F352-D551-3A90-DF72-0D9012E51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D7B7-5E0E-41B4-9B41-4EF5F9C48D3B}" type="datetime1">
              <a:rPr lang="en-US" smtClean="0"/>
              <a:t>4/27/2025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E75F0C-EA5E-DA7D-87D1-478AF53D5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Mustakim Billah Bedar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A244B1-C954-4274-9504-AB8BF3B21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6A304-B4EA-4326-AC53-193F60F09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103161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636B5-22F8-0DA3-166E-C3B73EA6A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DB8F5C-CB30-459B-F46A-BF60E94191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4CBFE7-0C5B-9F40-ABF5-8157895EA4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A9FB66-4725-780E-5730-5A8082607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0C784-78F8-4F8C-A534-E25D46C538B3}" type="datetime1">
              <a:rPr lang="en-US" smtClean="0"/>
              <a:t>4/27/2025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857272-CF03-7F3B-75BC-57DD33C6E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Mustakim Billah Bedar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FEE24D-E2C3-F5BA-78F2-E3D100A22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6A304-B4EA-4326-AC53-193F60F09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1899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E3639-D144-BFEF-76A6-602F1B2BD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9A863E-6849-AE6F-F130-4042C1E94E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5EDDA8-F14B-5F6E-EF75-29FD23437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D7B7-5E0E-41B4-9B41-4EF5F9C48D3B}" type="datetime1">
              <a:rPr lang="en-US" smtClean="0"/>
              <a:t>4/27/2025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E4AC6D-C815-D853-298F-19F343135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Mustakim Billah Bedar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3CE88C-4777-9703-1AB7-85E9429D3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6A304-B4EA-4326-AC53-193F60F09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719437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E64426-68B2-F613-E7B4-DFA9D2C498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B50620-0932-93C8-F965-24FF002B5D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EB872B-2237-532C-673C-FE72C4A0F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D7B7-5E0E-41B4-9B41-4EF5F9C48D3B}" type="datetime1">
              <a:rPr lang="en-US" smtClean="0"/>
              <a:t>4/27/2025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1C0083-8751-9AB9-4437-AAF988E79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Mustakim Billah Bedar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A38C35-CF9C-CF0F-4C7D-63AA7C8A5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6A304-B4EA-4326-AC53-193F60F09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887353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06604A-6ECE-DC1C-8B34-E6A76CD10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54B0CA-DF9B-349D-8413-D0E9533435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66DD8D-1F28-C2AE-1D82-84422E446D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3AD7B7-5E0E-41B4-9B41-4EF5F9C48D3B}" type="datetime1">
              <a:rPr lang="en-US" smtClean="0"/>
              <a:t>4/27/2025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77DB85-DF58-0F1F-3059-71B6C37ED9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Prepared by Mustakim Billah Bedar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39E3BB-936E-6B3A-DDCC-5F6AC9D94D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B6A304-B4EA-4326-AC53-193F60F09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8447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3" r:id="rId1"/>
    <p:sldLayoutId id="2147483894" r:id="rId2"/>
    <p:sldLayoutId id="2147483895" r:id="rId3"/>
    <p:sldLayoutId id="2147483896" r:id="rId4"/>
    <p:sldLayoutId id="2147483897" r:id="rId5"/>
    <p:sldLayoutId id="2147483898" r:id="rId6"/>
    <p:sldLayoutId id="2147483899" r:id="rId7"/>
    <p:sldLayoutId id="2147483900" r:id="rId8"/>
    <p:sldLayoutId id="2147483901" r:id="rId9"/>
    <p:sldLayoutId id="2147483902" r:id="rId10"/>
    <p:sldLayoutId id="2147483903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54489D-2D50-DE1C-81EA-9C52E5E61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Mustakim Billah Bedar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ECE6E3-085E-B4C4-B676-796714AE3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6A304-B4EA-4326-AC53-193F60F09B36}" type="slidenum">
              <a:rPr lang="en-US" smtClean="0"/>
              <a:t>1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7E5168A-9BE8-42FA-99A6-5F06F126B408}"/>
              </a:ext>
            </a:extLst>
          </p:cNvPr>
          <p:cNvSpPr/>
          <p:nvPr/>
        </p:nvSpPr>
        <p:spPr>
          <a:xfrm>
            <a:off x="2025748" y="2367171"/>
            <a:ext cx="8848578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600" b="1" dirty="0" err="1">
                <a:latin typeface="Algerian" panose="04020705040A02060702" pitchFamily="82" charset="0"/>
              </a:rPr>
              <a:t>Flynns</a:t>
            </a:r>
            <a:r>
              <a:rPr lang="en-US" sz="6600" b="1" dirty="0">
                <a:latin typeface="Algerian" panose="04020705040A02060702" pitchFamily="82" charset="0"/>
              </a:rPr>
              <a:t> </a:t>
            </a:r>
            <a:r>
              <a:rPr lang="en-US" sz="6600" b="1" dirty="0" err="1">
                <a:latin typeface="Algerian" panose="04020705040A02060702" pitchFamily="82" charset="0"/>
              </a:rPr>
              <a:t>clssification</a:t>
            </a:r>
            <a:endParaRPr lang="en-US" sz="6600" b="1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2086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3452E2-ED3B-EFBC-F7FD-24BC6BFA8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C84663-DC97-881C-0394-9EC90A4EC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Mustakim Billah Bedar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C4135A-1CBF-7EA0-0318-0523628E4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6A304-B4EA-4326-AC53-193F60F09B36}" type="slidenum">
              <a:rPr lang="en-US" smtClean="0"/>
              <a:t>2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DD0B365-2D99-B3AC-74C1-30B6251C07EE}"/>
              </a:ext>
            </a:extLst>
          </p:cNvPr>
          <p:cNvSpPr txBox="1"/>
          <p:nvPr/>
        </p:nvSpPr>
        <p:spPr>
          <a:xfrm>
            <a:off x="990600" y="882549"/>
            <a:ext cx="10299895" cy="707886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Arial Black" panose="020B0A04020102020204" pitchFamily="34" charset="0"/>
              </a:rPr>
              <a:t>Sequential VS Parallel Processing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6CE103-5816-67C7-044D-9ABADA0868C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1119" y="1797152"/>
            <a:ext cx="5573053" cy="41782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45184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052588-6FD0-426B-F709-60B9BDEAC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01FA42-7F58-4E23-0180-0B737E926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Mustakim Billah Bedar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256EB8-942E-C379-35D4-086B7D5DA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6A304-B4EA-4326-AC53-193F60F09B36}" type="slidenum">
              <a:rPr lang="en-US" smtClean="0"/>
              <a:t>3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52DD8C-8BCB-D7BD-E20E-52290414E76D}"/>
              </a:ext>
            </a:extLst>
          </p:cNvPr>
          <p:cNvSpPr txBox="1"/>
          <p:nvPr/>
        </p:nvSpPr>
        <p:spPr>
          <a:xfrm>
            <a:off x="990600" y="882549"/>
            <a:ext cx="10299895" cy="707886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Arial Black" panose="020B0A04020102020204" pitchFamily="34" charset="0"/>
              </a:rPr>
              <a:t>Multiprocessor VS Multicomputer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4BF6F06-4711-4755-7F0F-76960C964D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5851936"/>
              </p:ext>
            </p:extLst>
          </p:nvPr>
        </p:nvGraphicFramePr>
        <p:xfrm>
          <a:off x="1786598" y="1997612"/>
          <a:ext cx="9003322" cy="388992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38412">
                  <a:extLst>
                    <a:ext uri="{9D8B030D-6E8A-4147-A177-3AD203B41FA5}">
                      <a16:colId xmlns:a16="http://schemas.microsoft.com/office/drawing/2014/main" val="497767571"/>
                    </a:ext>
                  </a:extLst>
                </a:gridCol>
                <a:gridCol w="3662055">
                  <a:extLst>
                    <a:ext uri="{9D8B030D-6E8A-4147-A177-3AD203B41FA5}">
                      <a16:colId xmlns:a16="http://schemas.microsoft.com/office/drawing/2014/main" val="3252573602"/>
                    </a:ext>
                  </a:extLst>
                </a:gridCol>
                <a:gridCol w="3502855">
                  <a:extLst>
                    <a:ext uri="{9D8B030D-6E8A-4147-A177-3AD203B41FA5}">
                      <a16:colId xmlns:a16="http://schemas.microsoft.com/office/drawing/2014/main" val="3070405700"/>
                    </a:ext>
                  </a:extLst>
                </a:gridCol>
              </a:tblGrid>
              <a:tr h="393986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400" dirty="0">
                          <a:effectLst/>
                        </a:rPr>
                        <a:t>Features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400">
                          <a:effectLst/>
                        </a:rPr>
                        <a:t>Multiprocessor System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400">
                          <a:effectLst/>
                        </a:rPr>
                        <a:t>Multicomputer System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31267784"/>
                  </a:ext>
                </a:extLst>
              </a:tr>
              <a:tr h="78916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000" dirty="0">
                          <a:effectLst/>
                        </a:rPr>
                        <a:t>Definition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000" dirty="0">
                          <a:effectLst/>
                        </a:rPr>
                        <a:t>Multiprocessor consists of multiple processors within a single computer.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000">
                          <a:effectLst/>
                        </a:rPr>
                        <a:t>Multicomputer is an interlinked multiple autonomous computer.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47605088"/>
                  </a:ext>
                </a:extLst>
              </a:tr>
              <a:tr h="1066849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000">
                          <a:effectLst/>
                        </a:rPr>
                        <a:t>Communication between processing elements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000" dirty="0">
                          <a:effectLst/>
                        </a:rPr>
                        <a:t>It requires proper communication between the processing components and memory for successful resource allocation.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000">
                          <a:effectLst/>
                        </a:rPr>
                        <a:t>There is no interaction between processor units or memory resources.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29759831"/>
                  </a:ext>
                </a:extLst>
              </a:tr>
              <a:tr h="735757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000">
                          <a:effectLst/>
                        </a:rPr>
                        <a:t>Another name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000">
                          <a:effectLst/>
                        </a:rPr>
                        <a:t>It is also known as the tightly coupled system.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000" dirty="0">
                          <a:effectLst/>
                        </a:rPr>
                        <a:t>It is also known as loosely coupled systems.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71703134"/>
                  </a:ext>
                </a:extLst>
              </a:tr>
              <a:tr h="626581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000">
                          <a:effectLst/>
                        </a:rPr>
                        <a:t>Computing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000">
                          <a:effectLst/>
                        </a:rPr>
                        <a:t>It supports parallel computing.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000" dirty="0">
                          <a:effectLst/>
                        </a:rPr>
                        <a:t>It supports distributed computing.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980586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9923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18E97B-0A6F-EA82-A7C5-1B61E5887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3E97DB-C88E-8529-3EC2-90C65D245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Mustakim Billah Bedar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49738-0388-3030-0CDE-682E815CC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6A304-B4EA-4326-AC53-193F60F09B36}" type="slidenum">
              <a:rPr lang="en-US" smtClean="0"/>
              <a:t>4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5B9ABB-8FE4-6AD5-5499-F65306E924A5}"/>
              </a:ext>
            </a:extLst>
          </p:cNvPr>
          <p:cNvSpPr txBox="1"/>
          <p:nvPr/>
        </p:nvSpPr>
        <p:spPr>
          <a:xfrm>
            <a:off x="990600" y="882549"/>
            <a:ext cx="10299895" cy="707886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Arial Black" panose="020B0A04020102020204" pitchFamily="34" charset="0"/>
              </a:rPr>
              <a:t>Working Principal of a Processor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B10E71-222E-2C22-AF40-194872C6C77E}"/>
              </a:ext>
            </a:extLst>
          </p:cNvPr>
          <p:cNvSpPr txBox="1"/>
          <p:nvPr/>
        </p:nvSpPr>
        <p:spPr>
          <a:xfrm>
            <a:off x="1183813" y="2222695"/>
            <a:ext cx="565308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b="1" dirty="0"/>
              <a:t>A Microprocessor Simply Executes Programs where programs describes instructions and Data.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b="1" dirty="0">
                <a:effectLst/>
                <a:ea typeface="Calibri" panose="020F0502020204030204" pitchFamily="34" charset="0"/>
              </a:rPr>
              <a:t>The microprocessor follows a sequence to execute the instruction: Fetch, Decode, and then Execute.</a:t>
            </a:r>
            <a:endParaRPr lang="en-US" sz="2000" b="1" dirty="0"/>
          </a:p>
          <a:p>
            <a:endParaRPr 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C8B6B910-4797-F007-7860-09E2C770CB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6813" y="2557580"/>
            <a:ext cx="3381375" cy="1790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2536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207E8-15F8-8611-FF08-DDAC1D453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CFF05D-0306-BAE7-140B-CDA85C3CD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Mustakim Billah Bedar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A49006-951A-BF50-58A5-96450D39E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6A304-B4EA-4326-AC53-193F60F09B36}" type="slidenum">
              <a:rPr lang="en-US" smtClean="0"/>
              <a:t>5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27E6BB-68AC-7980-904F-3B9503DAB57B}"/>
              </a:ext>
            </a:extLst>
          </p:cNvPr>
          <p:cNvSpPr txBox="1"/>
          <p:nvPr/>
        </p:nvSpPr>
        <p:spPr>
          <a:xfrm>
            <a:off x="990600" y="882549"/>
            <a:ext cx="10299895" cy="707886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Arial Black" panose="020B0A04020102020204" pitchFamily="34" charset="0"/>
              </a:rPr>
              <a:t>Architectural Classification Scheme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2F36A3-783B-CE50-008D-774CB7FB62D7}"/>
              </a:ext>
            </a:extLst>
          </p:cNvPr>
          <p:cNvSpPr txBox="1"/>
          <p:nvPr/>
        </p:nvSpPr>
        <p:spPr>
          <a:xfrm>
            <a:off x="990600" y="1853795"/>
            <a:ext cx="9799320" cy="4591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 algn="just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2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Feng’s Classification:</a:t>
            </a:r>
          </a:p>
          <a:p>
            <a:pPr marL="800100" lvl="1" indent="-342900" algn="just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Serial Vs Parallel Processing</a:t>
            </a:r>
          </a:p>
          <a:p>
            <a:pPr marL="800100" lvl="1" indent="-342900" algn="just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sz="2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WSBS, WPBS, WSBP, WPBP</a:t>
            </a:r>
          </a:p>
          <a:p>
            <a:pPr marL="285750" marR="0" indent="-285750" algn="just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Handler’s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Classification:</a:t>
            </a:r>
          </a:p>
          <a:p>
            <a:pPr marL="800100" lvl="1" indent="-342900" algn="just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Degree of Parallelism and Pipelining</a:t>
            </a:r>
          </a:p>
          <a:p>
            <a:pPr marL="800100" lvl="1" indent="-342900" algn="just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sz="2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PCU, ALU, BLC</a:t>
            </a:r>
          </a:p>
          <a:p>
            <a:pPr marL="285750" marR="0" indent="-285750" algn="just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2000" b="1" dirty="0">
                <a:highlight>
                  <a:srgbClr val="FFFF00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Flynn’s</a:t>
            </a:r>
            <a:r>
              <a:rPr lang="en-US" sz="2000" b="1" dirty="0"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Classification:</a:t>
            </a:r>
          </a:p>
          <a:p>
            <a:pPr marL="800100" lvl="1" indent="-342900" algn="just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Instruction Stream and Data Stream</a:t>
            </a:r>
          </a:p>
          <a:p>
            <a:pPr marL="800100" lvl="1" indent="-342900" algn="just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SISD, SIMD, MISD, MIMD</a:t>
            </a:r>
            <a:endParaRPr lang="en-US" sz="20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indent="-342900" algn="just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endParaRPr lang="en-US" sz="24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52D16F4-4C0F-0AC4-5E55-6D551CD51853}"/>
              </a:ext>
            </a:extLst>
          </p:cNvPr>
          <p:cNvSpPr txBox="1"/>
          <p:nvPr/>
        </p:nvSpPr>
        <p:spPr>
          <a:xfrm>
            <a:off x="6675119" y="2218920"/>
            <a:ext cx="442428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WSBS = Word Serial Bit Serial</a:t>
            </a:r>
          </a:p>
          <a:p>
            <a:r>
              <a:rPr lang="en-US" b="1" dirty="0"/>
              <a:t>WPBS = Word Parallel Bit Serial</a:t>
            </a:r>
          </a:p>
          <a:p>
            <a:r>
              <a:rPr lang="en-US" b="1" dirty="0"/>
              <a:t>WSBP = Word Serial Bit Parallel</a:t>
            </a:r>
          </a:p>
          <a:p>
            <a:r>
              <a:rPr lang="en-US" b="1" dirty="0"/>
              <a:t>WPBP = Word Parallel Bit Parallel</a:t>
            </a:r>
          </a:p>
          <a:p>
            <a:r>
              <a:rPr lang="en-US" b="1" dirty="0"/>
              <a:t>PCU = Processing Control Unit</a:t>
            </a:r>
          </a:p>
          <a:p>
            <a:r>
              <a:rPr lang="en-US" b="1" dirty="0"/>
              <a:t>ALU = Arithmetic Logic Unit</a:t>
            </a:r>
          </a:p>
          <a:p>
            <a:r>
              <a:rPr lang="en-US" b="1" dirty="0"/>
              <a:t>BLC = Bit Level Circuitry</a:t>
            </a:r>
          </a:p>
          <a:p>
            <a:r>
              <a:rPr lang="en-US" b="1" dirty="0">
                <a:highlight>
                  <a:srgbClr val="FFFF00"/>
                </a:highlight>
              </a:rPr>
              <a:t>SISD = Single Instruction Single Data</a:t>
            </a:r>
          </a:p>
          <a:p>
            <a:r>
              <a:rPr lang="en-US" b="1" dirty="0">
                <a:highlight>
                  <a:srgbClr val="FFFF00"/>
                </a:highlight>
              </a:rPr>
              <a:t>SIMD = Single Instruction Multiple Data</a:t>
            </a:r>
          </a:p>
          <a:p>
            <a:r>
              <a:rPr lang="en-US" b="1" dirty="0">
                <a:highlight>
                  <a:srgbClr val="FFFF00"/>
                </a:highlight>
              </a:rPr>
              <a:t>MISD = Multiple Instruction Single Data</a:t>
            </a:r>
          </a:p>
          <a:p>
            <a:r>
              <a:rPr lang="en-US" b="1" dirty="0">
                <a:highlight>
                  <a:srgbClr val="FFFF00"/>
                </a:highlight>
              </a:rPr>
              <a:t>MIMD = Multiple Instruction Multiple Data</a:t>
            </a:r>
          </a:p>
        </p:txBody>
      </p:sp>
    </p:spTree>
    <p:extLst>
      <p:ext uri="{BB962C8B-B14F-4D97-AF65-F5344CB8AC3E}">
        <p14:creationId xmlns:p14="http://schemas.microsoft.com/office/powerpoint/2010/main" val="2611543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8CCA60-5B75-1F42-52CB-415102BA6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563373-4E3E-0FA9-98AA-07EA6FE52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Mustakim Billah Bedar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6FB8DF-9ED0-5B4F-01A5-6C6877228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6A304-B4EA-4326-AC53-193F60F09B36}" type="slidenum">
              <a:rPr lang="en-US" smtClean="0"/>
              <a:t>6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A6E5D9-2EDD-CAF1-5D84-6D27AEB8571C}"/>
              </a:ext>
            </a:extLst>
          </p:cNvPr>
          <p:cNvSpPr txBox="1"/>
          <p:nvPr/>
        </p:nvSpPr>
        <p:spPr>
          <a:xfrm>
            <a:off x="990600" y="882549"/>
            <a:ext cx="10299895" cy="707886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Arial Black" panose="020B0A04020102020204" pitchFamily="34" charset="0"/>
              </a:rPr>
              <a:t>Flynn’s Classification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08F1F8-8903-D6B5-4749-29A851B07B19}"/>
              </a:ext>
            </a:extLst>
          </p:cNvPr>
          <p:cNvSpPr txBox="1"/>
          <p:nvPr/>
        </p:nvSpPr>
        <p:spPr>
          <a:xfrm>
            <a:off x="858130" y="1912800"/>
            <a:ext cx="627419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400" b="1" dirty="0"/>
              <a:t>Michael Flynn introduced a classification of various computer architectures based on notions of </a:t>
            </a:r>
            <a:r>
              <a:rPr lang="en-US" sz="2400" b="1" dirty="0">
                <a:highlight>
                  <a:srgbClr val="FFFF00"/>
                </a:highlight>
              </a:rPr>
              <a:t>instruction and data streams. </a:t>
            </a:r>
            <a:r>
              <a:rPr lang="en-US" sz="2400" b="1" dirty="0"/>
              <a:t>They are SISD, SIMD, MIMD, MISD.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400" b="1" dirty="0"/>
              <a:t>an instruction stream refers to the sequence of instructions a CPU reads and executes from memory, while a data stream refers to the sequence of operands or data that the instructions operate on.</a:t>
            </a:r>
          </a:p>
          <a:p>
            <a:endParaRPr lang="en-US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661468E5-35D0-FF1F-015D-FA0BB2DDB3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5877" y="2180493"/>
            <a:ext cx="4293554" cy="2773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2238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ADB764-27A3-CDB6-BCD6-043EB04E0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3261C0-700A-7838-5188-D72102FB8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Mustakim Billah Bedar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03D526-E3AE-63DE-6226-131DA9DCF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6A304-B4EA-4326-AC53-193F60F09B36}" type="slidenum">
              <a:rPr lang="en-US" smtClean="0"/>
              <a:t>7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212599-AE5B-CFDE-6EB0-9F011AFE978E}"/>
              </a:ext>
            </a:extLst>
          </p:cNvPr>
          <p:cNvSpPr txBox="1"/>
          <p:nvPr/>
        </p:nvSpPr>
        <p:spPr>
          <a:xfrm>
            <a:off x="990600" y="882549"/>
            <a:ext cx="10299895" cy="707886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Arial Black" panose="020B0A04020102020204" pitchFamily="34" charset="0"/>
              </a:rPr>
              <a:t>SISD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491D1C-784F-EA3A-A633-C76352BA9E82}"/>
              </a:ext>
            </a:extLst>
          </p:cNvPr>
          <p:cNvSpPr txBox="1"/>
          <p:nvPr/>
        </p:nvSpPr>
        <p:spPr>
          <a:xfrm>
            <a:off x="1183813" y="1698239"/>
            <a:ext cx="10106682" cy="3359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b="1" dirty="0"/>
              <a:t>Conventional sequential machines are called SISD (Single Instruction Stream Over Single Data Stream) computers.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b="1" dirty="0"/>
              <a:t>They are also known as Uniprocessor Systems.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b="1" dirty="0"/>
              <a:t>Non Parallel Computers although parallel processing can be done through pipelining.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b="1" dirty="0"/>
              <a:t>Example: Microcomputers, Mainframes, IBM 7001 etc.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634750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D819B2-0CE4-5590-45AC-64ACF059C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54C37D-3083-782D-94CF-014D94AC8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Mustakim Billah Bedar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C1F231-885F-F528-3137-E45288912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6A304-B4EA-4326-AC53-193F60F09B36}" type="slidenum">
              <a:rPr lang="en-US" smtClean="0"/>
              <a:t>8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3FCF693-569D-D9A9-46D1-F2FF482A26A0}"/>
              </a:ext>
            </a:extLst>
          </p:cNvPr>
          <p:cNvSpPr txBox="1"/>
          <p:nvPr/>
        </p:nvSpPr>
        <p:spPr>
          <a:xfrm>
            <a:off x="990600" y="882549"/>
            <a:ext cx="10299895" cy="707886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Arial Black" panose="020B0A04020102020204" pitchFamily="34" charset="0"/>
              </a:rPr>
              <a:t>SISD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6B5E4E-B366-4ECE-F069-1F46F191461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55" r="2050"/>
          <a:stretch/>
        </p:blipFill>
        <p:spPr>
          <a:xfrm>
            <a:off x="6907238" y="1828800"/>
            <a:ext cx="4234376" cy="402004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931A7A3-9CC7-84FE-BCA9-A9C4A727539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0457"/>
          <a:stretch/>
        </p:blipFill>
        <p:spPr bwMode="auto">
          <a:xfrm>
            <a:off x="1616603" y="2467458"/>
            <a:ext cx="4906989" cy="192308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632863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173493-8FDA-FE7D-C9C3-2359CC8FE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D3CC6E-D243-22F1-145B-0352A3906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Mustakim Billah Bedar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0CF49C-0E89-5F25-A5EF-9362142C4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6A304-B4EA-4326-AC53-193F60F09B36}" type="slidenum">
              <a:rPr lang="en-US" smtClean="0"/>
              <a:t>9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B4D53B-AA7D-4F79-3661-1BD51B7F75CB}"/>
              </a:ext>
            </a:extLst>
          </p:cNvPr>
          <p:cNvSpPr txBox="1"/>
          <p:nvPr/>
        </p:nvSpPr>
        <p:spPr>
          <a:xfrm>
            <a:off x="990600" y="882549"/>
            <a:ext cx="10299895" cy="707886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Arial Black" panose="020B0A04020102020204" pitchFamily="34" charset="0"/>
              </a:rPr>
              <a:t>SIMD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EB6EB3-0810-B89C-180B-C60DDFAD11B4}"/>
              </a:ext>
            </a:extLst>
          </p:cNvPr>
          <p:cNvSpPr txBox="1"/>
          <p:nvPr/>
        </p:nvSpPr>
        <p:spPr>
          <a:xfrm>
            <a:off x="1183813" y="1698239"/>
            <a:ext cx="10106682" cy="2352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US" sz="2000" b="1" dirty="0"/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b="1" dirty="0"/>
              <a:t>Capable of executing the same instruction on all the CPU’s but operating on different data items.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b="1" dirty="0"/>
              <a:t>Well suited for Scientific Computing.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b="1" dirty="0"/>
              <a:t>Example: Array Processors, Vector Pipelines.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1671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51E9B-DE56-E893-0781-3859252F6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C6916B-C403-91EA-7C16-688211769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Mustakim Billah Bedar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8EE93E-3457-587A-C4C2-0E216918F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6A304-B4EA-4326-AC53-193F60F09B36}" type="slidenum">
              <a:rPr lang="en-US" smtClean="0"/>
              <a:t>10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D193C8A-35BC-57F2-9F0A-8E83ACAC2881}"/>
              </a:ext>
            </a:extLst>
          </p:cNvPr>
          <p:cNvSpPr txBox="1"/>
          <p:nvPr/>
        </p:nvSpPr>
        <p:spPr>
          <a:xfrm>
            <a:off x="990600" y="882549"/>
            <a:ext cx="10299895" cy="707886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Arial Black" panose="020B0A04020102020204" pitchFamily="34" charset="0"/>
              </a:rPr>
              <a:t>SIMD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5606F88-C22F-AE5B-D847-00C31EBCCA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8047" y="2096086"/>
            <a:ext cx="5264101" cy="29500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63725FC-FF02-F2EB-B3D7-5CF4BA53DC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3507" y="2306936"/>
            <a:ext cx="4764046" cy="295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887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B443D-835B-9987-1939-5E4FD6957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CE709D-C803-5873-B76F-4A44AAC5B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Mustakim Billah Bedar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CDBA8F-94C4-7380-1888-1D1FCB626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6A304-B4EA-4326-AC53-193F60F09B36}" type="slidenum">
              <a:rPr lang="en-US" smtClean="0"/>
              <a:t>11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39207F-4B17-0322-8D41-2F4A346BB88B}"/>
              </a:ext>
            </a:extLst>
          </p:cNvPr>
          <p:cNvSpPr txBox="1"/>
          <p:nvPr/>
        </p:nvSpPr>
        <p:spPr>
          <a:xfrm>
            <a:off x="990600" y="882549"/>
            <a:ext cx="10299895" cy="707886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Arial Black" panose="020B0A04020102020204" pitchFamily="34" charset="0"/>
              </a:rPr>
              <a:t>MISD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294BA2-AC45-2F69-E2F0-B5FC55C2B5AF}"/>
              </a:ext>
            </a:extLst>
          </p:cNvPr>
          <p:cNvSpPr txBox="1"/>
          <p:nvPr/>
        </p:nvSpPr>
        <p:spPr>
          <a:xfrm>
            <a:off x="1183813" y="1698239"/>
            <a:ext cx="10106682" cy="2352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US" sz="2000" b="1" dirty="0"/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b="1" dirty="0"/>
              <a:t>In MISD (Multiple Instruction Streams and a Single Data Stream) the same data stream flows through a linear array of processors executing different instruction streams.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b="1" dirty="0"/>
              <a:t>This Model is Practically not useful in most applications.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b="1" dirty="0"/>
              <a:t> Example: Systolic Arrays.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6868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0FBBA-A632-51AA-152A-B86412911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6B75AB-D38F-9D6D-D1D2-C64DEF66F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Mustakim Billah Bedar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BB9F27-5311-5E3C-88AD-E998A6E28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6A304-B4EA-4326-AC53-193F60F09B36}" type="slidenum">
              <a:rPr lang="en-US" smtClean="0"/>
              <a:t>12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7F0AC4-917A-F383-2735-E44C734468FB}"/>
              </a:ext>
            </a:extLst>
          </p:cNvPr>
          <p:cNvSpPr txBox="1"/>
          <p:nvPr/>
        </p:nvSpPr>
        <p:spPr>
          <a:xfrm>
            <a:off x="990600" y="882549"/>
            <a:ext cx="10299895" cy="707886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Arial Black" panose="020B0A04020102020204" pitchFamily="34" charset="0"/>
              </a:rPr>
              <a:t>MISD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3826A4-2827-0554-1CF9-B8B7DBCCB89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744" r="1794" b="12393"/>
          <a:stretch/>
        </p:blipFill>
        <p:spPr>
          <a:xfrm>
            <a:off x="838200" y="1862561"/>
            <a:ext cx="5907814" cy="313287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C9A657B-5053-8B38-1628-6A1741E6F2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9012" y="1862561"/>
            <a:ext cx="4666142" cy="3132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84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90149-8429-FA07-F4FD-B2E6C7AC0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8C384F-F73C-B4BA-B41A-EAE52ABAA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Mustakim Billah Bedar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4E42F0-5771-F4E2-9881-6D81EF450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6A304-B4EA-4326-AC53-193F60F09B36}" type="slidenum">
              <a:rPr lang="en-US" smtClean="0"/>
              <a:t>13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35DBAD-C23D-4CAE-A630-D4500FE62189}"/>
              </a:ext>
            </a:extLst>
          </p:cNvPr>
          <p:cNvSpPr txBox="1"/>
          <p:nvPr/>
        </p:nvSpPr>
        <p:spPr>
          <a:xfrm>
            <a:off x="990600" y="882549"/>
            <a:ext cx="10299895" cy="707886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Arial Black" panose="020B0A04020102020204" pitchFamily="34" charset="0"/>
              </a:rPr>
              <a:t>MIMD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6BACB6-D170-3CEF-D16A-66E99D6B6D33}"/>
              </a:ext>
            </a:extLst>
          </p:cNvPr>
          <p:cNvSpPr txBox="1"/>
          <p:nvPr/>
        </p:nvSpPr>
        <p:spPr>
          <a:xfrm>
            <a:off x="1183813" y="1698239"/>
            <a:ext cx="10106682" cy="2352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US" sz="2000" b="1" dirty="0"/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b="1" dirty="0"/>
              <a:t>Parallel Computers are reserved for MIMD (Multiple Instruction Streams Over Multiple Data Streams)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b="1" dirty="0"/>
              <a:t>Among the four MIMD is the most popular model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b="1" dirty="0"/>
              <a:t>Example: Supercomputers, IBM 370, Cray-2 etc.</a:t>
            </a:r>
          </a:p>
        </p:txBody>
      </p:sp>
    </p:spTree>
    <p:extLst>
      <p:ext uri="{BB962C8B-B14F-4D97-AF65-F5344CB8AC3E}">
        <p14:creationId xmlns:p14="http://schemas.microsoft.com/office/powerpoint/2010/main" val="760089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7F951-7B58-B8CA-DB2D-AE8AB952F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10D616-F9C0-D4CB-2020-75D57BF2D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Mustakim Billah Bedar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82D44C-46D2-B11C-D5AA-863D5362D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6A304-B4EA-4326-AC53-193F60F09B36}" type="slidenum">
              <a:rPr lang="en-US" smtClean="0"/>
              <a:t>14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045785D-4606-216C-3438-8446B0ACA74D}"/>
              </a:ext>
            </a:extLst>
          </p:cNvPr>
          <p:cNvSpPr txBox="1"/>
          <p:nvPr/>
        </p:nvSpPr>
        <p:spPr>
          <a:xfrm>
            <a:off x="990600" y="882549"/>
            <a:ext cx="10299895" cy="707886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Arial Black" panose="020B0A04020102020204" pitchFamily="34" charset="0"/>
              </a:rPr>
              <a:t>MIMD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EECE9C3-64AC-7F9E-962B-5442457219B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84"/>
          <a:stretch/>
        </p:blipFill>
        <p:spPr bwMode="auto">
          <a:xfrm>
            <a:off x="901502" y="1862561"/>
            <a:ext cx="6067510" cy="313287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C3E5E7A-0B45-42A0-507B-37EBA771A2B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24" r="3911"/>
          <a:stretch/>
        </p:blipFill>
        <p:spPr>
          <a:xfrm>
            <a:off x="6968935" y="1862561"/>
            <a:ext cx="4791656" cy="3418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918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CF3F6-000B-584E-C412-01345BADB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7446" y="675249"/>
            <a:ext cx="9003323" cy="3979887"/>
          </a:xfrm>
        </p:spPr>
        <p:txBody>
          <a:bodyPr/>
          <a:lstStyle/>
          <a:p>
            <a:pPr algn="ctr"/>
            <a:r>
              <a:rPr lang="en-US" dirty="0">
                <a:latin typeface="Eras Bold ITC" panose="020B0907030504020204" pitchFamily="34" charset="0"/>
              </a:rPr>
              <a:t>That’s All for today.</a:t>
            </a:r>
            <a:br>
              <a:rPr lang="en-US" dirty="0">
                <a:latin typeface="Eras Bold ITC" panose="020B0907030504020204" pitchFamily="34" charset="0"/>
              </a:rPr>
            </a:br>
            <a:r>
              <a:rPr lang="en-US" dirty="0">
                <a:solidFill>
                  <a:srgbClr val="FF0000"/>
                </a:solidFill>
                <a:latin typeface="Eras Bold ITC" panose="020B0907030504020204" pitchFamily="34" charset="0"/>
              </a:rPr>
              <a:t>Thank You.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973C26-7705-8904-F57C-372E2FA24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Mustakim Billah Bedar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081069-87FF-ACFA-652D-2BCE68925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6A304-B4EA-4326-AC53-193F60F09B36}" type="slidenum">
              <a:rPr lang="en-US" smtClean="0"/>
              <a:t>15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AF54C8-A95C-7998-EFAC-DCD782BD92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174" y="402391"/>
            <a:ext cx="946826" cy="1159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850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1655</TotalTime>
  <Words>566</Words>
  <Application>Microsoft Office PowerPoint</Application>
  <PresentationFormat>Widescreen</PresentationFormat>
  <Paragraphs>100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Algerian</vt:lpstr>
      <vt:lpstr>Arial</vt:lpstr>
      <vt:lpstr>Arial Black</vt:lpstr>
      <vt:lpstr>Calibri</vt:lpstr>
      <vt:lpstr>Calibri Light</vt:lpstr>
      <vt:lpstr>Eras Bold ITC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That’s All for today. Thank You.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HSC ICT Chapter 1</dc:title>
  <dc:creator>ISMI Johura</dc:creator>
  <cp:lastModifiedBy>pc</cp:lastModifiedBy>
  <cp:revision>75</cp:revision>
  <dcterms:created xsi:type="dcterms:W3CDTF">2023-02-06T07:44:01Z</dcterms:created>
  <dcterms:modified xsi:type="dcterms:W3CDTF">2025-04-27T17:42:57Z</dcterms:modified>
</cp:coreProperties>
</file>